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c5d2e43b04c99" /><Relationship Type="http://schemas.openxmlformats.org/officeDocument/2006/relationships/extended-properties" Target="/docProps/app.xml" Id="Rbd628442281340a0" /><Relationship Type="http://schemas.openxmlformats.org/officeDocument/2006/relationships/officeDocument" Target="/ppt/presentation.xml" Id="R83c3667f72fd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dc37718b364ab7"/>
  </p:sldMasterIdLst>
  <p:notesMasterIdLst>
    <p:notesMasterId xmlns:r="http://schemas.openxmlformats.org/officeDocument/2006/relationships" r:id="R51796cf83d124a51"/>
  </p:notesMasterIdLst>
  <p:sldIdLst>
    <p:sldId xmlns:r="http://schemas.openxmlformats.org/officeDocument/2006/relationships" id="256" r:id="Raf71fe5629c54105"/>
    <p:sldId xmlns:r="http://schemas.openxmlformats.org/officeDocument/2006/relationships" id="257" r:id="Re25a372817f74666"/>
    <p:sldId xmlns:r="http://schemas.openxmlformats.org/officeDocument/2006/relationships" id="258" r:id="Rd33058c55e224bbe"/>
    <p:sldId xmlns:r="http://schemas.openxmlformats.org/officeDocument/2006/relationships" id="259" r:id="R9b757fd47ee94cad"/>
    <p:sldId xmlns:r="http://schemas.openxmlformats.org/officeDocument/2006/relationships" id="260" r:id="R653ebd34be454c20"/>
    <p:sldId xmlns:r="http://schemas.openxmlformats.org/officeDocument/2006/relationships" id="261" r:id="R2fbe73091b074a80"/>
    <p:sldId xmlns:r="http://schemas.openxmlformats.org/officeDocument/2006/relationships" id="262" r:id="Ra45904e0a2d34b62"/>
    <p:sldId xmlns:r="http://schemas.openxmlformats.org/officeDocument/2006/relationships" id="263" r:id="R258fcf483f6b4eed"/>
    <p:sldId xmlns:r="http://schemas.openxmlformats.org/officeDocument/2006/relationships" id="264" r:id="Rb240b3af4658488d"/>
    <p:sldId xmlns:r="http://schemas.openxmlformats.org/officeDocument/2006/relationships" id="265" r:id="R555137cac03c47fa"/>
    <p:sldId xmlns:r="http://schemas.openxmlformats.org/officeDocument/2006/relationships" id="266" r:id="R2352744d21584f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6343c9690846a9" /><Relationship Type="http://schemas.openxmlformats.org/officeDocument/2006/relationships/slideMaster" Target="/ppt/slideMasters/slideMaster1.xml" Id="R8edc37718b364ab7" /><Relationship Type="http://schemas.openxmlformats.org/officeDocument/2006/relationships/notesMaster" Target="/ppt/notesMasters/notesMaster1.xml" Id="R51796cf83d124a51" /><Relationship Type="http://schemas.openxmlformats.org/officeDocument/2006/relationships/presProps" Target="/ppt/presProps.xml" Id="Ra6e8a9cf242943c6" /><Relationship Type="http://schemas.openxmlformats.org/officeDocument/2006/relationships/tableStyles" Target="/ppt/tableStyles.xml" Id="Rd5917b1f3f3944ef" /><Relationship Type="http://schemas.openxmlformats.org/officeDocument/2006/relationships/slide" Target="/ppt/slides/slide1.xml" Id="Raf71fe5629c54105" /><Relationship Type="http://schemas.openxmlformats.org/officeDocument/2006/relationships/slide" Target="/ppt/slides/slide2.xml" Id="Re25a372817f74666" /><Relationship Type="http://schemas.openxmlformats.org/officeDocument/2006/relationships/slide" Target="/ppt/slides/slide3.xml" Id="Rd33058c55e224bbe" /><Relationship Type="http://schemas.openxmlformats.org/officeDocument/2006/relationships/slide" Target="/ppt/slides/slide4.xml" Id="R9b757fd47ee94cad" /><Relationship Type="http://schemas.openxmlformats.org/officeDocument/2006/relationships/slide" Target="/ppt/slides/slide5.xml" Id="R653ebd34be454c20" /><Relationship Type="http://schemas.openxmlformats.org/officeDocument/2006/relationships/slide" Target="/ppt/slides/slide6.xml" Id="R2fbe73091b074a80" /><Relationship Type="http://schemas.openxmlformats.org/officeDocument/2006/relationships/slide" Target="/ppt/slides/slide7.xml" Id="Ra45904e0a2d34b62" /><Relationship Type="http://schemas.openxmlformats.org/officeDocument/2006/relationships/slide" Target="/ppt/slides/slide8.xml" Id="R258fcf483f6b4eed" /><Relationship Type="http://schemas.openxmlformats.org/officeDocument/2006/relationships/slide" Target="/ppt/slides/slide9.xml" Id="Rb240b3af4658488d" /><Relationship Type="http://schemas.openxmlformats.org/officeDocument/2006/relationships/slide" Target="/ppt/slides/slide10.xml" Id="R555137cac03c47fa" /><Relationship Type="http://schemas.openxmlformats.org/officeDocument/2006/relationships/slide" Target="/ppt/slides/slide11.xml" Id="R2352744d21584f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7aa939ed0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830d21c61843d0" /><Relationship Type="http://schemas.openxmlformats.org/officeDocument/2006/relationships/notesMaster" Target="/ppt/notesMasters/notesMaster1.xml" Id="R8147674a783644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6f8a1594a04d7c" /><Relationship Type="http://schemas.openxmlformats.org/officeDocument/2006/relationships/notesMaster" Target="/ppt/notesMasters/notesMaster1.xml" Id="Rc23eb419644843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76a5184444d42" /><Relationship Type="http://schemas.openxmlformats.org/officeDocument/2006/relationships/notesMaster" Target="/ppt/notesMasters/notesMaster1.xml" Id="Rc256a823c517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91387ec4194b16" /><Relationship Type="http://schemas.openxmlformats.org/officeDocument/2006/relationships/notesMaster" Target="/ppt/notesMasters/notesMaster1.xml" Id="R75ab5067b956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bf3c13b254e66" /><Relationship Type="http://schemas.openxmlformats.org/officeDocument/2006/relationships/notesMaster" Target="/ppt/notesMasters/notesMaster1.xml" Id="Rc39f6bf5b45a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8d0502633641f5" /><Relationship Type="http://schemas.openxmlformats.org/officeDocument/2006/relationships/notesMaster" Target="/ppt/notesMasters/notesMaster1.xml" Id="R2ebba1d26b3f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f58cfa1d6c4c30" /><Relationship Type="http://schemas.openxmlformats.org/officeDocument/2006/relationships/notesMaster" Target="/ppt/notesMasters/notesMaster1.xml" Id="R1764c27925a54b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e14da6b1b14618" /><Relationship Type="http://schemas.openxmlformats.org/officeDocument/2006/relationships/notesMaster" Target="/ppt/notesMasters/notesMaster1.xml" Id="Rba942393600240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d6acbb3684b11" /><Relationship Type="http://schemas.openxmlformats.org/officeDocument/2006/relationships/notesMaster" Target="/ppt/notesMasters/notesMaster1.xml" Id="R54b76fe8fd9f45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0ece5f2f524e0a" /><Relationship Type="http://schemas.openxmlformats.org/officeDocument/2006/relationships/notesMaster" Target="/ppt/notesMasters/notesMaster1.xml" Id="Rb85bfdec5b734a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8dc1d8f0743ba" /><Relationship Type="http://schemas.openxmlformats.org/officeDocument/2006/relationships/notesMaster" Target="/ppt/notesMasters/notesMaster1.xml" Id="Rf871be96ba1c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Project 02 và kết quả chạy trong be/HocMayBE/reports/results.json. Điền tên nhóm khi nộp.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Định nghĩa liên quan theo nhãn chủ đề 20 Newsgroups. Metric trong reports/results.json.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https://scikit-learn.org/stable/datasets/real_world.html#the-20-newsgroups-text-dataset và 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src/data.ts, src/experiment.ts, src/search.ts trong be/HocMayBE.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src/tfidf.ts và src/search.ts. Công thức IDF trơn log((1+N)/(1+df))+1.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src/experiment.ts và báo cáo, mục Thiết kế thí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số liệu: be/HocMayBE/reports/results.json, validation Precision@5.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số liệu: be/HocMayBE/reports/results.json, 200 truy vấn từ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fe/HocMayFE và be/HocMayBE. API GET /api/search?q=&amp;k=&amp;category=.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Project 02, phần Phân tích lỗi và Đạo đức.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Project 02; hướng tích hợp là đề xuất, chưa triển khai vào Gateway/Clinic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fbc2d7b6d4b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9eb67bc214ab4" /><Relationship Type="http://schemas.openxmlformats.org/officeDocument/2006/relationships/slideLayout" Target="/ppt/slideLayouts/slideLayout1.xml" Id="R5ff302ce8214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302ce8214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57046338e41eb" /><Relationship Type="http://schemas.openxmlformats.org/officeDocument/2006/relationships/notesSlide" Target="/ppt/notesSlides/notesSlide1.xml" Id="R002d0d620a4b4f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33f038984927" /><Relationship Type="http://schemas.openxmlformats.org/officeDocument/2006/relationships/notesSlide" Target="/ppt/notesSlides/notesSlide2.xml" Id="Rc6fb52b25baf42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f2bc809c43a9" /><Relationship Type="http://schemas.openxmlformats.org/officeDocument/2006/relationships/notesSlide" Target="/ppt/notesSlides/notesSlide3.xml" Id="Re24fd679104f4e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1b56a7c79477b" /><Relationship Type="http://schemas.openxmlformats.org/officeDocument/2006/relationships/notesSlide" Target="/ppt/notesSlides/notesSlide4.xml" Id="Rffc493109e5e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e815549c54138" /><Relationship Type="http://schemas.openxmlformats.org/officeDocument/2006/relationships/notesSlide" Target="/ppt/notesSlides/notesSlide5.xml" Id="Rd5cdc5f2c07f42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08b13726d4f8d" /><Relationship Type="http://schemas.openxmlformats.org/officeDocument/2006/relationships/notesSlide" Target="/ppt/notesSlides/notesSlide6.xml" Id="R110863c1d76444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5fae0174402a" /><Relationship Type="http://schemas.openxmlformats.org/officeDocument/2006/relationships/chart" Target="/ppt/slides/charts/chart1.xml" Id="Rd1da2fb9f3954383" /><Relationship Type="http://schemas.openxmlformats.org/officeDocument/2006/relationships/notesSlide" Target="/ppt/notesSlides/notesSlide7.xml" Id="R36b63abaf3eb4e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0f802c3494bec" /><Relationship Type="http://schemas.openxmlformats.org/officeDocument/2006/relationships/chart" Target="/ppt/slides/charts/chart2.xml" Id="R5957163c898b47b1" /><Relationship Type="http://schemas.openxmlformats.org/officeDocument/2006/relationships/notesSlide" Target="/ppt/notesSlides/notesSlide8.xml" Id="R2fbe1616abd44e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e6f23f1d44e41" /><Relationship Type="http://schemas.openxmlformats.org/officeDocument/2006/relationships/notesSlide" Target="/ppt/notesSlides/notesSlide9.xml" Id="Ra9724402750d4b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52b95270b4100" /><Relationship Type="http://schemas.openxmlformats.org/officeDocument/2006/relationships/notesSlide" Target="/ppt/notesSlides/notesSlide10.xml" Id="R08e4e515fb4d4b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d86dc089a4f6e" /><Relationship Type="http://schemas.openxmlformats.org/officeDocument/2006/relationships/notesSlide" Target="/ppt/notesSlides/notesSlide11.xml" Id="R12f09109b77842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Precision@5</c:v>
          </c:tx>
          <c:spPr>
            <a:solidFill xmlns:a="http://schemas.openxmlformats.org/drawingml/2006/main">
              <a:srgbClr val="176F5C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0,294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0,469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0,425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0,434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0,402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Đếm từ</c:v>
                </c:pt>
                <c:pt idx="1">
                  <c:v>Unigram</c:v>
                </c:pt>
                <c:pt idx="2">
                  <c:v>Uni + bi</c:v>
                </c:pt>
                <c:pt idx="3">
                  <c:v>min_df 2</c:v>
                </c:pt>
                <c:pt idx="4">
                  <c:v>min_df 5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0.294</c:v>
                </c:pt>
                <c:pt idx="1">
                  <c:v>0.469</c:v>
                </c:pt>
                <c:pt idx="2">
                  <c:v>0.425</c:v>
                </c:pt>
                <c:pt idx="3">
                  <c:v>0.434</c:v>
                </c:pt>
                <c:pt idx="4">
                  <c:v>0.402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TF–IDF</c:v>
          </c:tx>
          <c:spPr>
            <a:solidFill xmlns:a="http://schemas.openxmlformats.org/drawingml/2006/main">
              <a:srgbClr val="176F5C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0,476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0,664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Precision@5</c:v>
                </c:pt>
                <c:pt idx="1">
                  <c:v>MRR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0.476</c:v>
                </c:pt>
                <c:pt idx="1">
                  <c:v>0.664</c:v>
                </c:pt>
              </c:numCache>
            </c:numRef>
          </c:val>
        </c:ser>
        <c:ser>
          <c:idx val="1"/>
          <c:order val="1"/>
          <c:tx>
            <c:v>Đếm từ</c:v>
          </c:tx>
          <c:spPr>
            <a:solidFill xmlns:a="http://schemas.openxmlformats.org/drawingml/2006/main">
              <a:srgbClr val="A5B9A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0,284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Arial"/>
                        <a:ea typeface="Arial"/>
                        <a:cs typeface="Arial"/>
                      </a:rPr>
                      <a:t>0,495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Precision@5</c:v>
                </c:pt>
                <c:pt idx="1">
                  <c:v>MRR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0.284</c:v>
                </c:pt>
                <c:pt idx="1">
                  <c:v>0.495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79CEC-8502-436C-8655-64C1B4A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Công cụ tìm kiếm bài viết</a:t>
            </a:r>
          </a:p>
          <a:p xmlns:a="http://schemas.openxmlformats.org/drawingml/2006/main">
            <a:pPr>
              <a:defRPr sz="39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theo nội dung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1B118-F592-4095-B2A6-2500A352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 và cosine trên 20 Newsgroups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D0ECA-68CE-4483-BC40-1E2E8E9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Project 02  ·  Báo cáo ngày 24/09/2026</a:t>
            </a:r>
          </a:p>
        </p:txBody>
      </p:sp>
    </p:spTree>
    <p:extLst>
      <p:ext uri="{BB962C8B-B14F-4D97-AF65-F5344CB8AC3E}">
        <p14:creationId xmlns:p14="http://schemas.microsoft.com/office/powerpoint/2010/main" val="547677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CA6FC-3BBD-4F3F-9425-2AE2F103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Câu hỏi nghiên cứu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38718-6784-44C2-A331-5D3367F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E3CFD-EF32-4A76-86F8-4C11349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 có xếp bài cùng chủ đề cao hơn đếm từ khóa?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32932-9BBD-45A0-98BD-A05A25D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Precision@5: tỷ lệ bài cùng chủ đề trong năm kết quả đầu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538FD-44FD-4D32-95BB-EC4E933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MRR: vị trí của bài cùng chủ đề đầu tiên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374B6-EEDC-4B50-9F43-5E62AC1A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Độ trễ: thời gian xếp hạng sau khi nạp chỉ mục</a:t>
            </a:r>
          </a:p>
        </p:txBody>
      </p:sp>
    </p:spTree>
    <p:extLst>
      <p:ext uri="{BB962C8B-B14F-4D97-AF65-F5344CB8AC3E}">
        <p14:creationId xmlns:p14="http://schemas.microsoft.com/office/powerpoint/2010/main" val="1471945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2869F-13C6-4444-B3A2-5E80A371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Kho dữ liệu và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194EF-3446-48F1-92A9-0A24C89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EE79C-01AB-4761-9151-79B6240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7.801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0DE96-9FB6-4CE5-B09D-C35C5930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bài từ 8 chủ đề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65A90-375F-413E-8F6D-DC3BAA27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09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3.698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75EDC-20AB-459E-9B19-534B56B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918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F0292-83FA-4475-A7A9-FC12FF3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19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3.059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0FD58-E3D5-47B5-AD32-231E5FF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Loại 99 bài quá ngắn và 27 bản trùng sau làm sạch.</a:t>
            </a:r>
          </a:p>
        </p:txBody>
      </p:sp>
    </p:spTree>
    <p:extLst>
      <p:ext uri="{BB962C8B-B14F-4D97-AF65-F5344CB8AC3E}">
        <p14:creationId xmlns:p14="http://schemas.microsoft.com/office/powerpoint/2010/main" val="682262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27724-606C-44DE-A6CA-27E3E590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Dữ liệu đi qua những bước nào?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3FBB-FA85-47E0-B368-88E068B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18F61-A2F1-4488-A934-42F1665C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1. Tải bản 20news-bydate và kiểm tra SHA-256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C2A2D-B113-4005-BBF4-2667AE83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2. Bỏ header, trích dẫn, email và 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70267-2777-4425-805C-3BAB811C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3. Chia train / validation / test, loại bài ngắn và trùng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9A36A-709F-4870-BCC8-48064E1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4. Fit từ vựng trên train, chọn cấu hình bằng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A12FF-1D33-4DA4-AEE0-C9988ADE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5. Fit lại train + validation rồi đánh giá test</a:t>
            </a:r>
          </a:p>
        </p:txBody>
      </p:sp>
    </p:spTree>
    <p:extLst>
      <p:ext uri="{BB962C8B-B14F-4D97-AF65-F5344CB8AC3E}">
        <p14:creationId xmlns:p14="http://schemas.microsoft.com/office/powerpoint/2010/main" val="1187346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46996-13A1-4693-95EA-DA5AD78A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TF–IDF và cosine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BF082-94DF-4A8E-81F4-CF817B21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02C8E-386B-46B3-B192-55E4DAE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F2A5B-9CEE-4328-B44D-E65293E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Tần suất trong bài × mức hiếm trong kho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C140E-850D-4D0B-BDA6-F12CAB2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Cosine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84B73-6D22-4C45-96A9-05FC2477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Tích vô hướng của hai vector đã chuẩn hóa L2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2A280-8E08-4599-9C56-25B1D41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Chỉ mục nghịch đảo giúp tính điểm trên các bài có từ chung.</a:t>
            </a:r>
          </a:p>
        </p:txBody>
      </p:sp>
    </p:spTree>
    <p:extLst>
      <p:ext uri="{BB962C8B-B14F-4D97-AF65-F5344CB8AC3E}">
        <p14:creationId xmlns:p14="http://schemas.microsoft.com/office/powerpoint/2010/main" val="278528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E2D56-88B7-4680-B3B7-71292775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So sánh công bằng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49D3F-694B-4C42-B38C-932D47FE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E5C9-FFD8-4AA4-8D34-9016466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Baseline: đếm số token truy vấn có trong bài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547B-5F62-46A8-84B7-CA46AD1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Unigram TF–IDF: min_df = 3, max_df = 0,95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9E3F9-B43A-4C74-AA8C-76F9291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Thử thêm bigram và hai ngưỡng lọc từ vựng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2B4E-4A48-40F6-99E2-41ECDF7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Chọn bằng 200 truy vấn validation, giữ test độc lập</a:t>
            </a:r>
          </a:p>
        </p:txBody>
      </p:sp>
    </p:spTree>
    <p:extLst>
      <p:ext uri="{BB962C8B-B14F-4D97-AF65-F5344CB8AC3E}">
        <p14:creationId xmlns:p14="http://schemas.microsoft.com/office/powerpoint/2010/main" val="1054787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FE9A2-ED25-46A5-97A0-C54A97C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Validation chọn unigram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7443C-E34C-4C0C-88DD-D1F25368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191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da2fb9f395438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B3C4B-6A39-4E26-A853-524AD2E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Unigram đạt 0,469 P@5 và được chốt trước khi xem test.</a:t>
            </a:r>
          </a:p>
        </p:txBody>
      </p:sp>
    </p:spTree>
    <p:extLst>
      <p:ext uri="{BB962C8B-B14F-4D97-AF65-F5344CB8AC3E}">
        <p14:creationId xmlns:p14="http://schemas.microsoft.com/office/powerpoint/2010/main" val="1421914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6CB56-21BC-4BA0-A0B1-4F7F2D83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Test: TF–IDF vượt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A69D4-7989-4F7E-A67D-073A6836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191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57163c898b47b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B122-19F7-4D52-BD95-6FFAF91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Trung vị tìm kiếm: 2,9 ms; P95: 6,1 ms (chưa tính mạng).</a:t>
            </a:r>
          </a:p>
        </p:txBody>
      </p:sp>
    </p:spTree>
    <p:extLst>
      <p:ext uri="{BB962C8B-B14F-4D97-AF65-F5344CB8AC3E}">
        <p14:creationId xmlns:p14="http://schemas.microsoft.com/office/powerpoint/2010/main" val="1768366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EC9AF-E40C-4036-B3DA-1DF488D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Ứng dụng FE và 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21C73-E90B-4721-9CF4-962DB158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9A29C-4E89-4992-BCF8-50C16D73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Người dùng nhập truy vấn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A44BD-224B-4894-A84E-44BA5CD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FE gửi yêu cầu tới /api/search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7670A-54B1-482F-8825-DEDF338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BE tính cosine trên chỉ mục đã nạp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9E48-37EE-482C-9CB4-96549EFD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FE hiển thị tiêu đề, đoạn trích, điểm và bộ lọc</a:t>
            </a:r>
          </a:p>
        </p:txBody>
      </p:sp>
    </p:spTree>
    <p:extLst>
      <p:ext uri="{BB962C8B-B14F-4D97-AF65-F5344CB8AC3E}">
        <p14:creationId xmlns:p14="http://schemas.microsoft.com/office/powerpoint/2010/main" val="436938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B6CDD-6715-47CC-9E48-482AB39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Giới hạn của kết quả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58A4F-0465-49A3-B93D-1D0DEDA8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FAE5D-5EB1-410C-A8CA-BDF3B048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Nhãn cùng chủ đề chưa đo được mức liên quan từng bài.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5DB13-E1EF-4C7F-A7E9-01A7C068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Truy vấn test lấy 18 token đầu, không giống mọi câu hỏi thật.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E40B1-5542-45AA-A3DB-40D3A9C0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TF–IDF khó xử lý từ đồng nghĩa và câu hỏi tiếng Việt.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E028B-E16D-43D8-B91F-47ECC5C4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Bài sci.med không phải nội dung y khoa đã thẩm định.</a:t>
            </a:r>
          </a:p>
        </p:txBody>
      </p:sp>
    </p:spTree>
    <p:extLst>
      <p:ext uri="{BB962C8B-B14F-4D97-AF65-F5344CB8AC3E}">
        <p14:creationId xmlns:p14="http://schemas.microsoft.com/office/powerpoint/2010/main" val="15285655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FD117-BB7B-41B9-ACFB-48A13F43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D24"/>
                </a:solidFill>
                <a:latin typeface="Arial"/>
                <a:ea typeface="Arial"/>
                <a:cs typeface="Arial"/>
              </a:rPr>
              <a:t>Kết luận và áp dụng cho phòng khám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F835A-31F7-4A44-AA6D-AFBC464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4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8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C9A34-F9F6-46D2-86EE-124DC6E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F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F5C"/>
                </a:solidFill>
                <a:latin typeface="Arial"/>
                <a:ea typeface="Arial"/>
                <a:cs typeface="Arial"/>
              </a:rPr>
              <a:t>TF–IDF đạt P@5 = 0,476 trên 200 truy vấn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76BA3-F71A-45C7-99CD-37D75EB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Chạy demo độc lập bằng TypeScript trong HocMayFE / HocMayBE.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EBE4-4A0A-4F19-8DE1-0BBE1BC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Đưa bài tiếng Việt được chuyên môn duyệt vào kho mới.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BFF34-4435-4860-83FB-E77FFA2C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D24"/>
                </a:solidFill>
                <a:latin typeface="Arial"/>
                <a:ea typeface="Arial"/>
                <a:cs typeface="Arial"/>
              </a:rPr>
              <a:t>Đánh giá với câu hỏi thật trước khi nối Gateway/Clinic Service.</a:t>
            </a:r>
          </a:p>
        </p:txBody>
      </p:sp>
    </p:spTree>
    <p:extLst>
      <p:ext uri="{BB962C8B-B14F-4D97-AF65-F5344CB8AC3E}">
        <p14:creationId xmlns:p14="http://schemas.microsoft.com/office/powerpoint/2010/main" val="1149219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2026-09-24T11:13:45.6230000Z</dcterms:created>
  <dcterms:modified xsi:type="dcterms:W3CDTF">2026-09-24T11:13:45.6230000Z</dcterms:modified>
</coreProperties>
</file>