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77cc5d2e43b04c99" Type="http://schemas.openxmlformats.org/package/2006/relationships/metadata/core-properties" Target="docProps/core.xml"/><Relationship Id="R83c3667f72fd4e41" Type="http://schemas.openxmlformats.org/officeDocument/2006/relationships/officeDocument" Target="ppt/presentation.xml"/><Relationship Id="Rbd628442281340a0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dc37718b364ab7"/>
  </p:sldMasterIdLst>
  <p:notesMasterIdLst>
    <p:notesMasterId xmlns:r="http://schemas.openxmlformats.org/officeDocument/2006/relationships" r:id="R51796cf83d124a51"/>
  </p:notesMasterIdLst>
  <p:sldIdLst>
    <p:sldId xmlns:r="http://schemas.openxmlformats.org/officeDocument/2006/relationships" id="256" r:id="Raf71fe5629c54105"/>
    <p:sldId xmlns:r="http://schemas.openxmlformats.org/officeDocument/2006/relationships" id="257" r:id="Re25a372817f74666"/>
    <p:sldId xmlns:r="http://schemas.openxmlformats.org/officeDocument/2006/relationships" id="258" r:id="Rd33058c55e224bbe"/>
    <p:sldId xmlns:r="http://schemas.openxmlformats.org/officeDocument/2006/relationships" id="259" r:id="R9b757fd47ee94cad"/>
    <p:sldId xmlns:r="http://schemas.openxmlformats.org/officeDocument/2006/relationships" id="260" r:id="R653ebd34be454c20"/>
    <p:sldId xmlns:r="http://schemas.openxmlformats.org/officeDocument/2006/relationships" id="261" r:id="R2fbe73091b074a80"/>
    <p:sldId xmlns:r="http://schemas.openxmlformats.org/officeDocument/2006/relationships" id="262" r:id="Ra45904e0a2d34b62"/>
    <p:sldId xmlns:r="http://schemas.openxmlformats.org/officeDocument/2006/relationships" id="263" r:id="R258fcf483f6b4eed"/>
    <p:sldId xmlns:r="http://schemas.openxmlformats.org/officeDocument/2006/relationships" id="264" r:id="Rb240b3af4658488d"/>
    <p:sldId xmlns:r="http://schemas.openxmlformats.org/officeDocument/2006/relationships" id="265" r:id="R555137cac03c47fa"/>
    <p:sldId xmlns:r="http://schemas.openxmlformats.org/officeDocument/2006/relationships" id="266" r:id="R2352744d21584f4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2352744d21584f40" Type="http://schemas.openxmlformats.org/officeDocument/2006/relationships/slide" Target="slides/slide11.xml"/><Relationship Id="R258fcf483f6b4eed" Type="http://schemas.openxmlformats.org/officeDocument/2006/relationships/slide" Target="slides/slide8.xml"/><Relationship Id="R2fbe73091b074a80" Type="http://schemas.openxmlformats.org/officeDocument/2006/relationships/slide" Target="slides/slide6.xml"/><Relationship Id="R51796cf83d124a51" Type="http://schemas.openxmlformats.org/officeDocument/2006/relationships/notesMaster" Target="notesMasters/notesMaster1.xml"/><Relationship Id="R555137cac03c47fa" Type="http://schemas.openxmlformats.org/officeDocument/2006/relationships/slide" Target="slides/slide10.xml"/><Relationship Id="R653ebd34be454c20" Type="http://schemas.openxmlformats.org/officeDocument/2006/relationships/slide" Target="slides/slide5.xml"/><Relationship Id="R8edc37718b364ab7" Type="http://schemas.openxmlformats.org/officeDocument/2006/relationships/slideMaster" Target="slideMasters/slideMaster1.xml"/><Relationship Id="R9b757fd47ee94cad" Type="http://schemas.openxmlformats.org/officeDocument/2006/relationships/slide" Target="slides/slide4.xml"/><Relationship Id="Ra06343c9690846a9" Type="http://schemas.openxmlformats.org/officeDocument/2006/relationships/theme" Target="theme/theme1.xml"/><Relationship Id="Ra45904e0a2d34b62" Type="http://schemas.openxmlformats.org/officeDocument/2006/relationships/slide" Target="slides/slide7.xml"/><Relationship Id="Ra6e8a9cf242943c6" Type="http://schemas.openxmlformats.org/officeDocument/2006/relationships/presProps" Target="presProps.xml"/><Relationship Id="Raf71fe5629c54105" Type="http://schemas.openxmlformats.org/officeDocument/2006/relationships/slide" Target="slides/slide1.xml"/><Relationship Id="Rb240b3af4658488d" Type="http://schemas.openxmlformats.org/officeDocument/2006/relationships/slide" Target="slides/slide9.xml"/><Relationship Id="Rd33058c55e224bbe" Type="http://schemas.openxmlformats.org/officeDocument/2006/relationships/slide" Target="slides/slide3.xml"/><Relationship Id="Rd5917b1f3f3944ef" Type="http://schemas.openxmlformats.org/officeDocument/2006/relationships/tableStyles" Target="tableStyles.xml"/><Relationship Id="Re25a372817f74666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Precision@5</c:v>
                </c:pt>
              </c:strCache>
            </c:strRef>
          </c:tx>
          <c:spPr>
            <a:solidFill>
              <a:srgbClr val="19846E"/>
            </a:solidFill>
          </c:spPr>
          <c:cat>
            <c:strRef>
              <c:f>Sheet1!$A$2:$A$6</c:f>
              <c:strCache>
                <c:ptCount val="5"/>
                <c:pt idx="0">
                  <c:v>Đếm từ</c:v>
                </c:pt>
                <c:pt idx="1">
                  <c:v>Unigram</c:v>
                </c:pt>
                <c:pt idx="2">
                  <c:v>Uni + bi</c:v>
                </c:pt>
                <c:pt idx="3">
                  <c:v>min_df 2</c:v>
                </c:pt>
                <c:pt idx="4">
                  <c:v>min_df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0.27</c:v>
                </c:pt>
                <c:pt idx="1">
                  <c:v>0.498</c:v>
                </c:pt>
                <c:pt idx="2">
                  <c:v>0.47800000000000004</c:v>
                </c:pt>
                <c:pt idx="3">
                  <c:v>0.47800000000000004</c:v>
                </c:pt>
                <c:pt idx="4">
                  <c:v>0.45899999999999996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4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TickMark val="out"/>
        <c:minorTickMark val="none"/>
        <c:tickLblPos val="none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TF–IDF</c:v>
                </c:pt>
              </c:strCache>
            </c:strRef>
          </c:tx>
          <c:spPr>
            <a:solidFill>
              <a:srgbClr val="19846E"/>
            </a:solidFill>
          </c:spPr>
          <c:cat>
            <c:strRef>
              <c:f>Sheet1!$A$2:$A$3</c:f>
              <c:strCache>
                <c:ptCount val="2"/>
                <c:pt idx="0">
                  <c:v>Precision@5</c:v>
                </c:pt>
                <c:pt idx="1">
                  <c:v>MRR@10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0.457</c:v>
                </c:pt>
                <c:pt idx="1">
                  <c:v>0.6651626984126985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Đếm từ</c:v>
                </c:pt>
              </c:strCache>
            </c:strRef>
          </c:tx>
          <c:spPr>
            <a:solidFill>
              <a:srgbClr val="A1B8A8"/>
            </a:solidFill>
          </c:spPr>
          <c:cat>
            <c:strRef>
              <c:f>Sheet1!$A$2:$A$3</c:f>
              <c:strCache>
                <c:ptCount val="2"/>
                <c:pt idx="0">
                  <c:v>Precision@5</c:v>
                </c:pt>
                <c:pt idx="1">
                  <c:v>MRR@10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0.274</c:v>
                </c:pt>
                <c:pt idx="1">
                  <c:v>0.4911468253968254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4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TickMark val="out"/>
        <c:minorTickMark val="none"/>
        <c:tickLblPos val="none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Precision@5</c:v>
                </c:pt>
              </c:strCache>
            </c:strRef>
          </c:tx>
          <c:spPr>
            <a:solidFill>
              <a:srgbClr val="19846E"/>
            </a:solidFill>
          </c:spPr>
          <c:cat>
            <c:strRef>
              <c:f>Sheet1!$A$2:$A$6</c:f>
              <c:strCache>
                <c:ptCount val="5"/>
                <c:pt idx="0">
                  <c:v>Đếm từ</c:v>
                </c:pt>
                <c:pt idx="1">
                  <c:v>Unigram</c:v>
                </c:pt>
                <c:pt idx="2">
                  <c:v>Uni + bi</c:v>
                </c:pt>
                <c:pt idx="3">
                  <c:v>min_df 2</c:v>
                </c:pt>
                <c:pt idx="4">
                  <c:v>min_df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0.27</c:v>
                </c:pt>
                <c:pt idx="1">
                  <c:v>0.498</c:v>
                </c:pt>
                <c:pt idx="2">
                  <c:v>0.47800000000000004</c:v>
                </c:pt>
                <c:pt idx="3">
                  <c:v>0.47800000000000004</c:v>
                </c:pt>
                <c:pt idx="4">
                  <c:v>0.45899999999999996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4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TickMark val="none"/>
        <c:minorTickMark val="none"/>
        <c:tickLblPos val="none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TF–IDF</c:v>
                </c:pt>
              </c:strCache>
            </c:strRef>
          </c:tx>
          <c:spPr>
            <a:solidFill>
              <a:srgbClr val="19846E"/>
            </a:solidFill>
          </c:spPr>
          <c:cat>
            <c:strRef>
              <c:f>Sheet1!$A$2:$A$3</c:f>
              <c:strCache>
                <c:ptCount val="2"/>
                <c:pt idx="0">
                  <c:v>Precision@5</c:v>
                </c:pt>
                <c:pt idx="1">
                  <c:v>MRR@10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0.457</c:v>
                </c:pt>
                <c:pt idx="1">
                  <c:v>0.6651626984126985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Đếm từ</c:v>
                </c:pt>
              </c:strCache>
            </c:strRef>
          </c:tx>
          <c:spPr>
            <a:solidFill>
              <a:srgbClr val="A1B8A8"/>
            </a:solidFill>
          </c:spPr>
          <c:cat>
            <c:strRef>
              <c:f>Sheet1!$A$2:$A$3</c:f>
              <c:strCache>
                <c:ptCount val="2"/>
                <c:pt idx="0">
                  <c:v>Precision@5</c:v>
                </c:pt>
                <c:pt idx="1">
                  <c:v>MRR@10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0.274</c:v>
                </c:pt>
                <c:pt idx="1">
                  <c:v>0.4911468253968254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4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TickMark val="none"/>
        <c:minorTickMark val="none"/>
        <c:tickLblPos val="none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Precision@5</c:v>
                </c:pt>
              </c:strCache>
            </c:strRef>
          </c:tx>
          <c:spPr>
            <a:solidFill>
              <a:srgbClr val="19846E"/>
            </a:solidFill>
          </c:spPr>
          <c:cat>
            <c:strRef>
              <c:f>Sheet1!$A$2:$A$6</c:f>
              <c:strCache>
                <c:ptCount val="5"/>
                <c:pt idx="0">
                  <c:v>Đếm từ</c:v>
                </c:pt>
                <c:pt idx="1">
                  <c:v>Unigram</c:v>
                </c:pt>
                <c:pt idx="2">
                  <c:v>Uni + bi</c:v>
                </c:pt>
                <c:pt idx="3">
                  <c:v>min_df 2</c:v>
                </c:pt>
                <c:pt idx="4">
                  <c:v>min_df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0.27</c:v>
                </c:pt>
                <c:pt idx="1">
                  <c:v>0.498</c:v>
                </c:pt>
                <c:pt idx="2">
                  <c:v>0.47800000000000004</c:v>
                </c:pt>
                <c:pt idx="3">
                  <c:v>0.47800000000000004</c:v>
                </c:pt>
                <c:pt idx="4">
                  <c:v>0.45899999999999996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4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TickMark val="none"/>
        <c:minorTickMark val="none"/>
        <c:tickLblPos val="none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TF–IDF</c:v>
                </c:pt>
              </c:strCache>
            </c:strRef>
          </c:tx>
          <c:spPr>
            <a:solidFill>
              <a:srgbClr val="19846E"/>
            </a:solidFill>
          </c:spPr>
          <c:cat>
            <c:strRef>
              <c:f>Sheet1!$A$2:$A$3</c:f>
              <c:strCache>
                <c:ptCount val="2"/>
                <c:pt idx="0">
                  <c:v>Precision@5</c:v>
                </c:pt>
                <c:pt idx="1">
                  <c:v>MRR@10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0.457</c:v>
                </c:pt>
                <c:pt idx="1">
                  <c:v>0.6651626984126985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Đếm từ</c:v>
                </c:pt>
              </c:strCache>
            </c:strRef>
          </c:tx>
          <c:spPr>
            <a:solidFill>
              <a:srgbClr val="A1B8A8"/>
            </a:solidFill>
          </c:spPr>
          <c:cat>
            <c:strRef>
              <c:f>Sheet1!$A$2:$A$3</c:f>
              <c:strCache>
                <c:ptCount val="2"/>
                <c:pt idx="0">
                  <c:v>Precision@5</c:v>
                </c:pt>
                <c:pt idx="1">
                  <c:v>MRR@10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0.274</c:v>
                </c:pt>
                <c:pt idx="1">
                  <c:v>0.4911468253968254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4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TickMark val="none"/>
        <c:minorTickMark val="none"/>
        <c:tickLblPos val="none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7ef7aa939ed045c8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5f830d21c61843d0" Type="http://schemas.openxmlformats.org/officeDocument/2006/relationships/slide" Target="../slides/slide1.xml"/><Relationship Id="R8147674a783644a3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276f8a1594a04d7c" Type="http://schemas.openxmlformats.org/officeDocument/2006/relationships/slide" Target="../slides/slide2.xml"/><Relationship Id="Rc23eb419644843da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83076a5184444d42" Type="http://schemas.openxmlformats.org/officeDocument/2006/relationships/slide" Target="../slides/slide3.xml"/><Relationship Id="Rc256a823c5174e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5e91387ec4194b16" Type="http://schemas.openxmlformats.org/officeDocument/2006/relationships/slide" Target="../slides/slide4.xml"/><Relationship Id="R75ab5067b9564599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c39f6bf5b45a4810" Type="http://schemas.openxmlformats.org/officeDocument/2006/relationships/notesMaster" Target="../notesMasters/notesMaster1.xml"/><Relationship Id="Rd07bf3c13b254e66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2ebba1d26b3f4e6a" Type="http://schemas.openxmlformats.org/officeDocument/2006/relationships/notesMaster" Target="../notesMasters/notesMaster1.xml"/><Relationship Id="Rf68d0502633641f5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16f58cfa1d6c4c30" Type="http://schemas.openxmlformats.org/officeDocument/2006/relationships/slide" Target="../slides/slide7.xml"/><Relationship Id="R1764c27925a54b19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ba942393600240c7" Type="http://schemas.openxmlformats.org/officeDocument/2006/relationships/notesMaster" Target="../notesMasters/notesMaster1.xml"/><Relationship Id="Rd6e14da6b1b14618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54b76fe8fd9f45b9" Type="http://schemas.openxmlformats.org/officeDocument/2006/relationships/notesMaster" Target="../notesMasters/notesMaster1.xml"/><Relationship Id="Ref1d6acbb3684b11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910ece5f2f524e0a" Type="http://schemas.openxmlformats.org/officeDocument/2006/relationships/slide" Target="../slides/slide10.xml"/><Relationship Id="Rb85bfdec5b734a33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f2a8dc1d8f0743ba" Type="http://schemas.openxmlformats.org/officeDocument/2006/relationships/slide" Target="../slides/slide11.xml"/><Relationship Id="Rf871be96ba1c49c5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báo cáo Project 02 và kết quả chạy trong be/HocMayBE/reports/results.json. Điền tên nhóm khi nộp.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Định nghĩa liên quan theo nhãn chủ đề 20 Newsgroups. Metric trong reports/results.json.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https://scikit-learn.org/stable/datasets/real_world.html#the-20-newsgroups-text-dataset và quality.json.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src/data.ts, src/experiment.ts, src/search.ts trong be/HocMayBE.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src/tfidf.ts và src/search.ts. Công thức IDF trơn log((1+N)/(1+df))+1.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src/experiment.ts và báo cáo, mục Thiết kế thí nghiệm.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số liệu: be/HocMayBE/reports/results.json, validation Precision@5.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số liệu: be/HocMayBE/reports/results.json, 200 truy vấn từ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fe/HocMayFE và be/HocMayBE. API GET /api/search?q=&amp;k=&amp;category=.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báo cáo Project 02, phần Phân tích lỗi và Đạo đức.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báo cáo Project 02; hướng tích hợp là đề xuất, chưa triển khai vào Gateway/Clinic Service.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d82fbc2d7b6d4b1c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5ff302ce8214441e" Type="http://schemas.openxmlformats.org/officeDocument/2006/relationships/slideLayout" Target="../slideLayouts/slideLayout1.xml"/><Relationship Id="Rf039eb67bc214ab4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f302ce821444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02d0d620a4b4fde" Type="http://schemas.openxmlformats.org/officeDocument/2006/relationships/notesSlide" Target="../notesSlides/notesSlide1.xml"/><Relationship Id="R90e57046338e41eb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c6fb52b25baf429b" Type="http://schemas.openxmlformats.org/officeDocument/2006/relationships/notesSlide" Target="../notesSlides/notesSlide2.xml"/><Relationship Id="Rf5e233f038984927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e24fd679104f4ea0" Type="http://schemas.openxmlformats.org/officeDocument/2006/relationships/notesSlide" Target="../notesSlides/notesSlide3.xml"/><Relationship Id="Rfb17f2bc809c43a9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17e1b56a7c79477b" Type="http://schemas.openxmlformats.org/officeDocument/2006/relationships/slideLayout" Target="../slideLayouts/slideLayout1.xml"/><Relationship Id="Rffc493109e5e4ba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bbde815549c54138" Type="http://schemas.openxmlformats.org/officeDocument/2006/relationships/slideLayout" Target="../slideLayouts/slideLayout1.xml"/><Relationship Id="Rd5cdc5f2c07f42a1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110863c1d764446c" Type="http://schemas.openxmlformats.org/officeDocument/2006/relationships/notesSlide" Target="../notesSlides/notesSlide6.xml"/><Relationship Id="Rf3f08b13726d4f8d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36b63abaf3eb4e16" Type="http://schemas.openxmlformats.org/officeDocument/2006/relationships/notesSlide" Target="../notesSlides/notesSlide7.xml"/><Relationship Id="Rc1695fae0174402a" Type="http://schemas.openxmlformats.org/officeDocument/2006/relationships/slideLayout" Target="../slideLayouts/slideLayout1.xml"/><Relationship Id="Rd1da2fb9f3954383" Type="http://schemas.openxmlformats.org/officeDocument/2006/relationships/chart" Target="charts/chart1.xml"/><Relationship Id="rId4" Type="http://schemas.openxmlformats.org/officeDocument/2006/relationships/chart" Target="../charts/chart1.xml"/><Relationship Id="rId5" Type="http://schemas.openxmlformats.org/officeDocument/2006/relationships/chart" Target="../charts/chart3.xml"/><Relationship Id="rId6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2fbe1616abd44e66" Type="http://schemas.openxmlformats.org/officeDocument/2006/relationships/notesSlide" Target="../notesSlides/notesSlide8.xml"/><Relationship Id="R5957163c898b47b1" Type="http://schemas.openxmlformats.org/officeDocument/2006/relationships/chart" Target="charts/chart2.xml"/><Relationship Id="R7a90f802c3494bec" Type="http://schemas.openxmlformats.org/officeDocument/2006/relationships/slideLayout" Target="../slideLayouts/slideLayout1.xml"/><Relationship Id="rId4" Type="http://schemas.openxmlformats.org/officeDocument/2006/relationships/chart" Target="../charts/chart2.xml"/><Relationship Id="rId5" Type="http://schemas.openxmlformats.org/officeDocument/2006/relationships/chart" Target="../charts/chart4.xml"/><Relationship Id="rId6" Type="http://schemas.openxmlformats.org/officeDocument/2006/relationships/chart" Target="../charts/chart6.xml"/></Relationships>
</file>

<file path=ppt/slides/_rels/slide9.xml.rels><?xml version='1.0' encoding='UTF-8' standalone='yes'?>
<Relationships xmlns="http://schemas.openxmlformats.org/package/2006/relationships"><Relationship Id="R829e6f23f1d44e41" Type="http://schemas.openxmlformats.org/officeDocument/2006/relationships/slideLayout" Target="../slideLayouts/slideLayout1.xml"/><Relationship Id="Ra9724402750d4b1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08e4e515fb4d4b17" Type="http://schemas.openxmlformats.org/officeDocument/2006/relationships/notesSlide" Target="../notesSlides/notesSlide10.xml"/><Relationship Id="R5d052b95270b4100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12f09109b7784253" Type="http://schemas.openxmlformats.org/officeDocument/2006/relationships/notesSlide" Target="../notesSlides/notesSlide11.xml"/><Relationship Id="R79fd86dc089a4f6e" Type="http://schemas.openxmlformats.org/officeDocument/2006/relationships/slideLayout" Target="../slideLayouts/slideLayout1.xml"/></Relationships>
</file>

<file path=ppt/slides/charts/_rels/chart1.xml.rels><?xml version='1.0' encoding='UTF-8' standalone='yes'?>
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?xml version='1.0' encoding='UTF-8' standalone='yes'?>
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Precision@5</c:v>
                </c:pt>
              </c:strCache>
            </c:strRef>
          </c:tx>
          <c:spPr>
            <a:solidFill xmlns:a="http://schemas.openxmlformats.org/drawingml/2006/main">
              <a:srgbClr val="176F5C"/>
            </a:solidFill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75">
                        <a:latin typeface="Arial"/>
                        <a:ea typeface="Arial"/>
                        <a:cs typeface="Arial"/>
                      </a:rPr>
                      <a:t>0,294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75"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75">
                        <a:latin typeface="Arial"/>
                        <a:ea typeface="Arial"/>
                        <a:cs typeface="Arial"/>
                      </a:rPr>
                      <a:t>0,469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75"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75">
                        <a:latin typeface="Arial"/>
                        <a:ea typeface="Arial"/>
                        <a:cs typeface="Arial"/>
                      </a:rPr>
                      <a:t>0,425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75"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75">
                        <a:latin typeface="Arial"/>
                        <a:ea typeface="Arial"/>
                        <a:cs typeface="Arial"/>
                      </a:rPr>
                      <a:t>0,434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75"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75">
                        <a:latin typeface="Arial"/>
                        <a:ea typeface="Arial"/>
                        <a:cs typeface="Arial"/>
                      </a:rPr>
                      <a:t>0,402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75"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Ref>
              <c:f>Sheet1!$A$2:$A$6</c:f>
              <c:strCache>
                <c:ptCount val="5"/>
                <c:pt idx="0">
                  <c:v>Đếm từ</c:v>
                </c:pt>
                <c:pt idx="1">
                  <c:v>Unigram</c:v>
                </c:pt>
                <c:pt idx="2">
                  <c:v>Uni + bi</c:v>
                </c:pt>
                <c:pt idx="3">
                  <c:v>min_df 2</c:v>
                </c:pt>
                <c:pt idx="4">
                  <c:v>min_df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0.27</c:v>
                </c:pt>
                <c:pt idx="1">
                  <c:v>0.498</c:v>
                </c:pt>
                <c:pt idx="2">
                  <c:v>0.47800000000000004</c:v>
                </c:pt>
                <c:pt idx="3">
                  <c:v>0.47800000000000004</c:v>
                </c:pt>
                <c:pt idx="4">
                  <c:v>0.45899999999999996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TF–IDF</c:v>
                </c:pt>
              </c:strCache>
            </c:strRef>
          </c:tx>
          <c:spPr>
            <a:solidFill xmlns:a="http://schemas.openxmlformats.org/drawingml/2006/main">
              <a:srgbClr val="176F5C"/>
            </a:solidFill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75">
                        <a:latin typeface="Arial"/>
                        <a:ea typeface="Arial"/>
                        <a:cs typeface="Arial"/>
                      </a:rPr>
                      <a:t>0,476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75"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75">
                        <a:latin typeface="Arial"/>
                        <a:ea typeface="Arial"/>
                        <a:cs typeface="Arial"/>
                      </a:rPr>
                      <a:t>0,664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75"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Ref>
              <c:f>Sheet1!$A$2:$A$3</c:f>
              <c:strCache>
                <c:ptCount val="2"/>
                <c:pt idx="0">
                  <c:v>Precision@5</c:v>
                </c:pt>
                <c:pt idx="1">
                  <c:v>MRR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0.457</c:v>
                </c:pt>
                <c:pt idx="1">
                  <c:v>0.6651626984126985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Đếm từ</c:v>
                </c:pt>
              </c:strCache>
            </c:strRef>
          </c:tx>
          <c:spPr>
            <a:solidFill xmlns:a="http://schemas.openxmlformats.org/drawingml/2006/main">
              <a:srgbClr val="A5B9A9"/>
            </a:solidFill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75">
                        <a:latin typeface="Arial"/>
                        <a:ea typeface="Arial"/>
                        <a:cs typeface="Arial"/>
                      </a:rPr>
                      <a:t>0,284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75"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75">
                        <a:latin typeface="Arial"/>
                        <a:ea typeface="Arial"/>
                        <a:cs typeface="Arial"/>
                      </a:rPr>
                      <a:t>0,495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75"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Ref>
              <c:f>Sheet1!$A$2:$A$3</c:f>
              <c:strCache>
                <c:ptCount val="2"/>
                <c:pt idx="0">
                  <c:v>Precision@5</c:v>
                </c:pt>
                <c:pt idx="1">
                  <c:v>MRR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0.274</c:v>
                </c:pt>
                <c:pt idx="1">
                  <c:v>0.4911468253968254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C79CEC-8502-436C-8655-64C1B4AE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0125"/>
            <a:ext cx="10382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2D24"/>
                </a:solidFill>
                <a:latin typeface="Arial"/>
                <a:ea typeface="Arial"/>
                <a:cs typeface="Arial"/>
              </a:rPr>
              <a:t>Công cụ tìm kiếm bài viết</a:t>
            </a:r>
          </a:p>
          <a:p xmlns:a="http://schemas.openxmlformats.org/drawingml/2006/main">
            <a:pPr>
              <a:defRPr sz="3900" b="1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2D24"/>
                </a:solidFill>
                <a:latin typeface="Arial"/>
                <a:ea typeface="Arial"/>
                <a:cs typeface="Arial"/>
              </a:rPr>
              <a:t>theo nội dung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81B118-F592-4095-B2A6-2500A352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6F5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6F5C"/>
                </a:solidFill>
                <a:latin typeface="Arial"/>
                <a:ea typeface="Arial"/>
                <a:cs typeface="Arial"/>
              </a:rPr>
              <a:t>TF–IDF và cosine trên 20 Newsgroups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FD0ECA-68CE-4483-BC40-1E2E8E92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1645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458"/>
                </a:solidFill>
                <a:latin typeface="Arial"/>
                <a:ea typeface="Arial"/>
                <a:cs typeface="Arial"/>
              </a:rPr>
              <a:t>Project 02  ·  Báo cáo ngày 02/10/2026</a:t>
            </a:r>
          </a:p>
        </p:txBody>
      </p:sp>
    </p:spTree>
    <p:extLst>
      <p:ext uri="{BB962C8B-B14F-4D97-AF65-F5344CB8AC3E}">
        <p14:creationId xmlns:p14="http://schemas.microsoft.com/office/powerpoint/2010/main" val="5476774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3CA6FC-3BBD-4F3F-9425-2AE2F1037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D24"/>
                </a:solidFill>
                <a:latin typeface="Arial"/>
                <a:ea typeface="Arial"/>
                <a:cs typeface="Arial"/>
              </a:rPr>
              <a:t>Câu hỏi nghiên cứu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A38718-6784-44C2-A331-5D3367FF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0000" y="6343650"/>
            <a:ext cx="150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1645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458"/>
                </a:solidFill>
                <a:latin typeface="Arial"/>
                <a:ea typeface="Arial"/>
                <a:cs typeface="Arial"/>
              </a:rPr>
              <a:t>02 /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CE3CFD-EF32-4A76-86F8-4C113496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85925"/>
            <a:ext cx="10287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6F5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6F5C"/>
                </a:solidFill>
                <a:latin typeface="Arial"/>
                <a:ea typeface="Arial"/>
                <a:cs typeface="Arial"/>
              </a:rPr>
              <a:t>TF–IDF có xếp bài cùng chủ đề cao hơn đếm từ khóa?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132932-9BBD-45A0-98BD-A05A25DE2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D24"/>
                </a:solidFill>
                <a:latin typeface="Arial"/>
                <a:ea typeface="Arial"/>
                <a:cs typeface="Arial"/>
              </a:rPr>
              <a:t>Precision@5: tỷ lệ bài cùng chủ đề trong năm kết quả đầu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8538FD-44FD-4D32-95BB-EC4E933E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195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D24"/>
                </a:solidFill>
                <a:latin typeface="Arial"/>
                <a:ea typeface="Arial"/>
                <a:cs typeface="Arial"/>
              </a:rPr>
              <a:t>MRR@10: vị trí của bài cùng chủ đề đầu tiên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D374B6-EEDC-4B50-9F43-5E62AC1A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958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D24"/>
                </a:solidFill>
                <a:latin typeface="Arial"/>
                <a:ea typeface="Arial"/>
                <a:cs typeface="Arial"/>
              </a:rPr>
              <a:t>Độ trễ: thời gian xếp hạng sau khi nạp chỉ mục</a:t>
            </a:r>
          </a:p>
        </p:txBody>
      </p:sp>
    </p:spTree>
    <p:extLst>
      <p:ext uri="{BB962C8B-B14F-4D97-AF65-F5344CB8AC3E}">
        <p14:creationId xmlns:p14="http://schemas.microsoft.com/office/powerpoint/2010/main" val="14719454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02869F-13C6-4444-B3A2-5E80A371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D24"/>
                </a:solidFill>
                <a:latin typeface="Arial"/>
                <a:ea typeface="Arial"/>
                <a:cs typeface="Arial"/>
              </a:rPr>
              <a:t>Kho dữ liệu và split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E194EF-3446-48F1-92A9-0A24C898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0000" y="6343650"/>
            <a:ext cx="150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1645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458"/>
                </a:solidFill>
                <a:latin typeface="Arial"/>
                <a:ea typeface="Arial"/>
                <a:cs typeface="Arial"/>
              </a:rPr>
              <a:t>03 /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7EE79C-01AB-4761-9151-79B62407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43075"/>
            <a:ext cx="276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76F5C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76F5C"/>
                </a:solidFill>
                <a:latin typeface="Arial"/>
                <a:ea typeface="Arial"/>
                <a:cs typeface="Arial"/>
              </a:rPr>
              <a:t>7.801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40DE96-9FB6-4CE5-B09D-C35C5930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14625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24"/>
                </a:solidFill>
                <a:latin typeface="Arial"/>
                <a:ea typeface="Arial"/>
                <a:cs typeface="Arial"/>
              </a:rPr>
              <a:t>bài từ 8 chủ đề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D65A90-375F-413E-8F6D-DC3BAA27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809750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D24"/>
                </a:solidFill>
                <a:latin typeface="Arial"/>
                <a:ea typeface="Arial"/>
                <a:cs typeface="Arial"/>
              </a:rPr>
              <a:t>3.575 train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875EDC-20AB-459E-9B19-534B56B4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714625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D24"/>
                </a:solidFill>
                <a:latin typeface="Arial"/>
                <a:ea typeface="Arial"/>
                <a:cs typeface="Arial"/>
              </a:rPr>
              <a:t>896 validation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5F0292-83FA-4475-A7A9-FC12FF35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619500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D24"/>
                </a:solidFill>
                <a:latin typeface="Arial"/>
                <a:ea typeface="Arial"/>
                <a:cs typeface="Arial"/>
              </a:rPr>
              <a:t>2.953 test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10FD58-E3D5-47B5-AD32-231E5FFDC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959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1645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16458"/>
                </a:solidFill>
                <a:latin typeface="Arial"/>
                <a:ea typeface="Arial"/>
                <a:cs typeface="Arial"/>
              </a:rPr>
              <a:t>Loại 353 bài quá ngắn và 24 bản trùng sau làm sạch.</a:t>
            </a:r>
          </a:p>
        </p:txBody>
      </p:sp>
    </p:spTree>
    <p:extLst>
      <p:ext uri="{BB962C8B-B14F-4D97-AF65-F5344CB8AC3E}">
        <p14:creationId xmlns:p14="http://schemas.microsoft.com/office/powerpoint/2010/main" val="6822627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227724-606C-44DE-A6CA-27E3E590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D24"/>
                </a:solidFill>
                <a:latin typeface="Arial"/>
                <a:ea typeface="Arial"/>
                <a:cs typeface="Arial"/>
              </a:rPr>
              <a:t>Dữ liệu đi qua những bước nào?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8B3FBB-FA85-47E0-B368-88E068B7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0000" y="6343650"/>
            <a:ext cx="150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1645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458"/>
                </a:solidFill>
                <a:latin typeface="Arial"/>
                <a:ea typeface="Arial"/>
                <a:cs typeface="Arial"/>
              </a:rPr>
              <a:t>04 /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E18F61-A2F1-4488-A934-42F1665CA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24000"/>
            <a:ext cx="105727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24"/>
                </a:solidFill>
                <a:latin typeface="Arial"/>
                <a:ea typeface="Arial"/>
                <a:cs typeface="Arial"/>
              </a:rPr>
              <a:t>1. Tải bản 20news-bydate và kiểm tra checksum qua loader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6C2A2D-B113-4005-BBF4-2667AE83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90775"/>
            <a:ext cx="105727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24"/>
                </a:solidFill>
                <a:latin typeface="Arial"/>
                <a:ea typeface="Arial"/>
                <a:cs typeface="Arial"/>
              </a:rPr>
              <a:t>2. Bỏ header, trích dẫn, email và URL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D70267-2777-4425-805C-3BAB811C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57550"/>
            <a:ext cx="105727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24"/>
                </a:solidFill>
                <a:latin typeface="Arial"/>
                <a:ea typeface="Arial"/>
                <a:cs typeface="Arial"/>
              </a:rPr>
              <a:t>3. Chia train / validation / test, loại bài ngắn và trùng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49A36A-709F-4870-BCC8-48064E1F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24325"/>
            <a:ext cx="105727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24"/>
                </a:solidFill>
                <a:latin typeface="Arial"/>
                <a:ea typeface="Arial"/>
                <a:cs typeface="Arial"/>
              </a:rPr>
              <a:t>4. Fit từ vựng trên train, chọn cấu hình bằng validation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8A12FF-1D33-4DA4-AEE0-C9988ADE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91100"/>
            <a:ext cx="105727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24"/>
                </a:solidFill>
                <a:latin typeface="Arial"/>
                <a:ea typeface="Arial"/>
                <a:cs typeface="Arial"/>
              </a:rPr>
              <a:t>5. Giữ model chỉ fit train rồi đánh giá test</a:t>
            </a:r>
          </a:p>
        </p:txBody>
      </p:sp>
    </p:spTree>
    <p:extLst>
      <p:ext uri="{BB962C8B-B14F-4D97-AF65-F5344CB8AC3E}">
        <p14:creationId xmlns:p14="http://schemas.microsoft.com/office/powerpoint/2010/main" val="11873462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C46996-13A1-4693-95EA-DA5AD78A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D24"/>
                </a:solidFill>
                <a:latin typeface="Arial"/>
                <a:ea typeface="Arial"/>
                <a:cs typeface="Arial"/>
              </a:rPr>
              <a:t>TF–IDF và cosine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7BF082-94DF-4A8E-81F4-CF817B21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0000" y="6343650"/>
            <a:ext cx="150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1645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458"/>
                </a:solidFill>
                <a:latin typeface="Arial"/>
                <a:ea typeface="Arial"/>
                <a:cs typeface="Arial"/>
              </a:rPr>
              <a:t>05 /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002C8E-386B-46B3-B192-55E4DAE9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371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6F5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6F5C"/>
                </a:solidFill>
                <a:latin typeface="Arial"/>
                <a:ea typeface="Arial"/>
                <a:cs typeface="Arial"/>
              </a:rPr>
              <a:t>TF–IDF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7F2A5B-9CEE-4328-B44D-E65293EA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D24"/>
                </a:solidFill>
                <a:latin typeface="Arial"/>
                <a:ea typeface="Arial"/>
                <a:cs typeface="Arial"/>
              </a:rPr>
              <a:t>Tần suất trong bài × mức hiếm trong kho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AC140E-850D-4D0B-BDA6-F12CAB252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371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6F5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6F5C"/>
                </a:solidFill>
                <a:latin typeface="Arial"/>
                <a:ea typeface="Arial"/>
                <a:cs typeface="Arial"/>
              </a:rPr>
              <a:t>Cosine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684B73-6D22-4C45-96A9-05FC2477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100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D24"/>
                </a:solidFill>
                <a:latin typeface="Arial"/>
                <a:ea typeface="Arial"/>
                <a:cs typeface="Arial"/>
              </a:rPr>
              <a:t>Tích vô hướng của hai vector đã chuẩn hóa L2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12A280-8E08-4599-9C56-25B1D419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81625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1645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16458"/>
                </a:solidFill>
                <a:latin typeface="Arial"/>
                <a:ea typeface="Arial"/>
                <a:cs typeface="Arial"/>
              </a:rPr>
              <a:t>Ma trận TF–IDF thưa giúp tính điểm trên các bài có từ chung.</a:t>
            </a:r>
          </a:p>
        </p:txBody>
      </p:sp>
    </p:spTree>
    <p:extLst>
      <p:ext uri="{BB962C8B-B14F-4D97-AF65-F5344CB8AC3E}">
        <p14:creationId xmlns:p14="http://schemas.microsoft.com/office/powerpoint/2010/main" val="2785287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DE2D56-88B7-4680-B3B7-71292775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D24"/>
                </a:solidFill>
                <a:latin typeface="Arial"/>
                <a:ea typeface="Arial"/>
                <a:cs typeface="Arial"/>
              </a:rPr>
              <a:t>So sánh công bằng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049D3F-694B-4C42-B38C-932D47FE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0000" y="6343650"/>
            <a:ext cx="150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1645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458"/>
                </a:solidFill>
                <a:latin typeface="Arial"/>
                <a:ea typeface="Arial"/>
                <a:cs typeface="Arial"/>
              </a:rPr>
              <a:t>06 /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C3E5C9-FFD8-4AA4-8D34-9016466B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1057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D24"/>
                </a:solidFill>
                <a:latin typeface="Arial"/>
                <a:ea typeface="Arial"/>
                <a:cs typeface="Arial"/>
              </a:rPr>
              <a:t>Baseline: đếm số token truy vấn có trong bài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77547B-5F62-46A8-84B7-CA46AD1D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1057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D24"/>
                </a:solidFill>
                <a:latin typeface="Arial"/>
                <a:ea typeface="Arial"/>
                <a:cs typeface="Arial"/>
              </a:rPr>
              <a:t>Unigram TF–IDF: min_df = 3, max_df = 0,95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59E3F9-B43A-4C74-AA8C-76F92913A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38550"/>
            <a:ext cx="1057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D24"/>
                </a:solidFill>
                <a:latin typeface="Arial"/>
                <a:ea typeface="Arial"/>
                <a:cs typeface="Arial"/>
              </a:rPr>
              <a:t>Thử thêm bigram và hai ngưỡng lọc từ vựng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4D2B4E-4A48-40F6-99E2-41ECDF7B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29150"/>
            <a:ext cx="1057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D24"/>
                </a:solidFill>
                <a:latin typeface="Arial"/>
                <a:ea typeface="Arial"/>
                <a:cs typeface="Arial"/>
              </a:rPr>
              <a:t>Chọn bằng 200 truy vấn validation, giữ test độc lập</a:t>
            </a:r>
          </a:p>
        </p:txBody>
      </p:sp>
    </p:spTree>
    <p:extLst>
      <p:ext uri="{BB962C8B-B14F-4D97-AF65-F5344CB8AC3E}">
        <p14:creationId xmlns:p14="http://schemas.microsoft.com/office/powerpoint/2010/main" val="10547872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1FE9A2-ED25-46A5-97A0-C54A97CDB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D24"/>
                </a:solidFill>
                <a:latin typeface="Arial"/>
                <a:ea typeface="Arial"/>
                <a:cs typeface="Arial"/>
              </a:rPr>
              <a:t>Validation chọn unigram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6B3C4B-6A39-4E26-A853-524AD2E30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57875"/>
            <a:ext cx="1019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1645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6458"/>
                </a:solidFill>
                <a:latin typeface="Arial"/>
                <a:ea typeface="Arial"/>
                <a:cs typeface="Arial"/>
              </a:rPr>
              <a:t>Unigram đạt 0,498 P@5 và được chốt trước khi xem test.</a:t>
            </a:r>
          </a:p>
        </p:txBody>
      </p:sp>
      <p:graphicFrame xmlns:a="http://schemas.openxmlformats.org/drawingml/2006/main">
        <p:nvGraphicFramePr>
          <p:cNvPr id="6" name="Chart 5"/>
          <p:cNvGraphicFramePr>
            <a:graphicFrameLocks noGrp="1"/>
          </p:cNvGraphicFramePr>
          <p:nvPr/>
        </p:nvGraphicFramePr>
        <p:xfrm>
          <a:off x="857250" y="1714500"/>
          <a:ext cx="1019175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57443C-E34C-4C0C-88DD-D1F25368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0000" y="6343650"/>
            <a:ext cx="150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1645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458"/>
                </a:solidFill>
                <a:latin typeface="Arial"/>
                <a:ea typeface="Arial"/>
                <a:cs typeface="Arial"/>
              </a:rPr>
              <a:t>07 / 11</a:t>
            </a:r>
          </a:p>
        </p:txBody>
      </p:sp>
    </p:spTree>
    <p:extLst>
      <p:ext uri="{BB962C8B-B14F-4D97-AF65-F5344CB8AC3E}">
        <p14:creationId xmlns:p14="http://schemas.microsoft.com/office/powerpoint/2010/main" val="14219146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D6CB56-21BC-4BA0-A0B1-4F7F2D836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D24"/>
                </a:solidFill>
                <a:latin typeface="Arial"/>
                <a:ea typeface="Arial"/>
                <a:cs typeface="Arial"/>
              </a:rPr>
              <a:t>Test: TF–IDF vượt baseline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65B122-19F7-4D52-BD95-6FFAF910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1645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16458"/>
                </a:solidFill>
                <a:latin typeface="Arial"/>
                <a:ea typeface="Arial"/>
                <a:cs typeface="Arial"/>
              </a:rPr>
              <a:t>Trung vị tìm kiếm: 29,9 ms; P95: 44,9 ms (chưa tính mạng).</a:t>
            </a:r>
          </a:p>
        </p:txBody>
      </p:sp>
      <p:graphicFrame xmlns:a="http://schemas.openxmlformats.org/drawingml/2006/main">
        <p:nvGraphicFramePr>
          <p:cNvPr id="6" name="Chart 5"/>
          <p:cNvGraphicFramePr>
            <a:graphicFrameLocks noGrp="1"/>
          </p:cNvGraphicFramePr>
          <p:nvPr/>
        </p:nvGraphicFramePr>
        <p:xfrm>
          <a:off x="857250" y="1714500"/>
          <a:ext cx="10191750" cy="3667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6A69D4-7989-4F7E-A67D-073A6836E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0000" y="6343650"/>
            <a:ext cx="150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1645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458"/>
                </a:solidFill>
                <a:latin typeface="Arial"/>
                <a:ea typeface="Arial"/>
                <a:cs typeface="Arial"/>
              </a:rPr>
              <a:t>08 / 11</a:t>
            </a:r>
          </a:p>
        </p:txBody>
      </p:sp>
    </p:spTree>
    <p:extLst>
      <p:ext uri="{BB962C8B-B14F-4D97-AF65-F5344CB8AC3E}">
        <p14:creationId xmlns:p14="http://schemas.microsoft.com/office/powerpoint/2010/main" val="17683663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6EC9AF-E40C-4036-B3DA-1DF488D0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D24"/>
                </a:solidFill>
                <a:latin typeface="Arial"/>
                <a:ea typeface="Arial"/>
                <a:cs typeface="Arial"/>
              </a:rPr>
              <a:t>Ứng dụng FE và BE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E21C73-E90B-4721-9CF4-962DB158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0000" y="6343650"/>
            <a:ext cx="150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1645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458"/>
                </a:solidFill>
                <a:latin typeface="Arial"/>
                <a:ea typeface="Arial"/>
                <a:cs typeface="Arial"/>
              </a:rPr>
              <a:t>09 /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49A29C-4E89-4992-BCF8-50C16D73C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6F5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6F5C"/>
                </a:solidFill>
                <a:latin typeface="Arial"/>
                <a:ea typeface="Arial"/>
                <a:cs typeface="Arial"/>
              </a:rPr>
              <a:t>Người dùng nhập truy vấn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7A44BD-224B-4894-A84E-44BA5CD8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19375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D24"/>
                </a:solidFill>
                <a:latin typeface="Arial"/>
                <a:ea typeface="Arial"/>
                <a:cs typeface="Arial"/>
              </a:rPr>
              <a:t>FE gửi yêu cầu tới /api/search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D7670A-54B1-482F-8825-DEDF3388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71875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D24"/>
                </a:solidFill>
                <a:latin typeface="Arial"/>
                <a:ea typeface="Arial"/>
                <a:cs typeface="Arial"/>
              </a:rPr>
              <a:t>BE tính cosine trên chỉ mục đã nạp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889E48-37EE-482C-9CB4-96549EFD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24375"/>
            <a:ext cx="1038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24"/>
                </a:solidFill>
                <a:latin typeface="Arial"/>
                <a:ea typeface="Arial"/>
                <a:cs typeface="Arial"/>
              </a:rPr>
              <a:t>FE hiển thị tiêu đề, đoạn trích, điểm và bộ lọc</a:t>
            </a:r>
          </a:p>
        </p:txBody>
      </p:sp>
    </p:spTree>
    <p:extLst>
      <p:ext uri="{BB962C8B-B14F-4D97-AF65-F5344CB8AC3E}">
        <p14:creationId xmlns:p14="http://schemas.microsoft.com/office/powerpoint/2010/main" val="4369380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6B6CDD-6715-47CC-9E48-482AB39C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D24"/>
                </a:solidFill>
                <a:latin typeface="Arial"/>
                <a:ea typeface="Arial"/>
                <a:cs typeface="Arial"/>
              </a:rPr>
              <a:t>Giới hạn của kết quả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958A4F-0465-49A3-B93D-1D0DEDA8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0000" y="6343650"/>
            <a:ext cx="150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1645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458"/>
                </a:solidFill>
                <a:latin typeface="Arial"/>
                <a:ea typeface="Arial"/>
                <a:cs typeface="Arial"/>
              </a:rPr>
              <a:t>10 /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5FAE5D-5EB1-410C-A8CA-BDF3B048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10572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D24"/>
                </a:solidFill>
                <a:latin typeface="Arial"/>
                <a:ea typeface="Arial"/>
                <a:cs typeface="Arial"/>
              </a:rPr>
              <a:t>Nhãn cùng chủ đề chưa đo được mức liên quan từng bài.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65DB13-E1EF-4C7F-A7E9-01A7C0682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10572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D24"/>
                </a:solidFill>
                <a:latin typeface="Arial"/>
                <a:ea typeface="Arial"/>
                <a:cs typeface="Arial"/>
              </a:rPr>
              <a:t>Truy vấn test lấy 18 token đầu, không giống mọi câu hỏi thật.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4E40B1-5542-45AA-A3DB-40D3A9C0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05225"/>
            <a:ext cx="10572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D24"/>
                </a:solidFill>
                <a:latin typeface="Arial"/>
                <a:ea typeface="Arial"/>
                <a:cs typeface="Arial"/>
              </a:rPr>
              <a:t>TF–IDF khó xử lý từ đồng nghĩa và câu hỏi tiếng Việt.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AE028B-E16D-43D8-B91F-47ECC5C4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24400"/>
            <a:ext cx="10572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D24"/>
                </a:solidFill>
                <a:latin typeface="Arial"/>
                <a:ea typeface="Arial"/>
                <a:cs typeface="Arial"/>
              </a:rPr>
              <a:t>Bài sci.med không phải nội dung y khoa đã thẩm định.</a:t>
            </a:r>
          </a:p>
        </p:txBody>
      </p:sp>
    </p:spTree>
    <p:extLst>
      <p:ext uri="{BB962C8B-B14F-4D97-AF65-F5344CB8AC3E}">
        <p14:creationId xmlns:p14="http://schemas.microsoft.com/office/powerpoint/2010/main" val="152856558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AFD117-BB7B-41B9-ACFB-48A13F43E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D24"/>
                </a:solidFill>
                <a:latin typeface="Arial"/>
                <a:ea typeface="Arial"/>
                <a:cs typeface="Arial"/>
              </a:rPr>
              <a:t>Kết luận và áp dụng cho phòng khám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0F835A-31F7-4A44-AA6D-AFBC4642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0000" y="6343650"/>
            <a:ext cx="150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1645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458"/>
                </a:solidFill>
                <a:latin typeface="Arial"/>
                <a:ea typeface="Arial"/>
                <a:cs typeface="Arial"/>
              </a:rPr>
              <a:t>11 /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FC9A34-F9F6-46D2-86EE-124DC6ED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6F5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6F5C"/>
                </a:solidFill>
                <a:latin typeface="Arial"/>
                <a:ea typeface="Arial"/>
                <a:cs typeface="Arial"/>
              </a:rPr>
              <a:t>TF–IDF đạt P@5 = 0,457 trên 200 truy vấn test.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676BA3-F71A-45C7-99CD-37D75EB3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0375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D24"/>
                </a:solidFill>
                <a:latin typeface="Arial"/>
                <a:ea typeface="Arial"/>
                <a:cs typeface="Arial"/>
              </a:rPr>
              <a:t>Chạy backend Python và frontend React trong HocMayFE / HocMayBE.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F1EBE4-4A0A-4F19-8DE1-0BBE1BC4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33825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D24"/>
                </a:solidFill>
                <a:latin typeface="Arial"/>
                <a:ea typeface="Arial"/>
                <a:cs typeface="Arial"/>
              </a:rPr>
              <a:t>Đưa bài tiếng Việt được chuyên môn duyệt vào kho mới.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1BFF34-4435-4860-83FB-E77FFA2C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67275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D24"/>
                </a:solidFill>
                <a:latin typeface="Arial"/>
                <a:ea typeface="Arial"/>
                <a:cs typeface="Arial"/>
              </a:rPr>
              <a:t>Đánh giá với câu hỏi thật trước khi nối Gateway/Clinic Service.</a:t>
            </a:r>
          </a:p>
        </p:txBody>
      </p:sp>
    </p:spTree>
    <p:extLst>
      <p:ext uri="{BB962C8B-B14F-4D97-AF65-F5344CB8AC3E}">
        <p14:creationId xmlns:p14="http://schemas.microsoft.com/office/powerpoint/2010/main" val="11492193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2026-09-24T11:13:45.6230000Z</dcterms:created>
  <dcterms:modified xsi:type="dcterms:W3CDTF">2026-09-24T11:13:45.6230000Z</dcterms:modified>
</coreProperties>
</file>